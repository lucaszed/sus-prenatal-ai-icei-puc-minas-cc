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aser Arabic" charset="1" panose="00000500000000000000"/>
      <p:regular r:id="rId23"/>
    </p:embeddedFont>
    <p:embeddedFont>
      <p:font typeface="Montaser Arabic Medium" charset="1" panose="00000600000000000000"/>
      <p:regular r:id="rId24"/>
    </p:embeddedFont>
    <p:embeddedFont>
      <p:font typeface="Montaser Arabic Bold" charset="1" panose="00000800000000000000"/>
      <p:regular r:id="rId25"/>
    </p:embeddedFont>
    <p:embeddedFont>
      <p:font typeface="Montaser Arabic Light" charset="1" panose="00000400000000000000"/>
      <p:regular r:id="rId26"/>
    </p:embeddedFont>
    <p:embeddedFont>
      <p:font typeface="Montaser Arabic Extra-Light" charset="1" panose="00000300000000000000"/>
      <p:regular r:id="rId27"/>
    </p:embeddedFont>
    <p:embeddedFont>
      <p:font typeface="Cooper Hewitt Bold" charset="1" panose="00000000000000000000"/>
      <p:regular r:id="rId28"/>
    </p:embeddedFont>
    <p:embeddedFont>
      <p:font typeface="Raleway Bold" charset="1" panose="00000000000000000000"/>
      <p:regular r:id="rId29"/>
    </p:embeddedFont>
    <p:embeddedFont>
      <p:font typeface="Raleway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9.png" Type="http://schemas.openxmlformats.org/officeDocument/2006/relationships/image"/><Relationship Id="rId5" Target="../embeddings/oleObject3.bin" Type="http://schemas.openxmlformats.org/officeDocument/2006/relationships/oleObject"/><Relationship Id="rId6" Target="../media/image20.png" Type="http://schemas.openxmlformats.org/officeDocument/2006/relationships/image"/><Relationship Id="rId7" Target="../embeddings/oleObject4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236815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BA0A7">
                <a:alpha val="19608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6815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54522" y="3305540"/>
            <a:ext cx="7404778" cy="5964335"/>
          </a:xfrm>
          <a:custGeom>
            <a:avLst/>
            <a:gdLst/>
            <a:ahLst/>
            <a:cxnLst/>
            <a:rect r="r" b="b" t="t" l="l"/>
            <a:pathLst>
              <a:path h="5964335" w="7404778">
                <a:moveTo>
                  <a:pt x="0" y="0"/>
                </a:moveTo>
                <a:lnTo>
                  <a:pt x="7404778" y="0"/>
                </a:lnTo>
                <a:lnTo>
                  <a:pt x="7404778" y="5964335"/>
                </a:lnTo>
                <a:lnTo>
                  <a:pt x="0" y="5964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39" t="-31142" r="-5152" b="-6837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754397" y="1809490"/>
            <a:ext cx="7389603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1502984"/>
            <a:ext cx="574912" cy="57491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449669"/>
            <a:ext cx="7662722" cy="542213"/>
            <a:chOff x="0" y="0"/>
            <a:chExt cx="2018165" cy="1428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8166" cy="142805"/>
            </a:xfrm>
            <a:custGeom>
              <a:avLst/>
              <a:gdLst/>
              <a:ahLst/>
              <a:cxnLst/>
              <a:rect r="r" b="b" t="t" l="l"/>
              <a:pathLst>
                <a:path h="142805" w="2018166">
                  <a:moveTo>
                    <a:pt x="0" y="0"/>
                  </a:moveTo>
                  <a:lnTo>
                    <a:pt x="2018166" y="0"/>
                  </a:lnTo>
                  <a:lnTo>
                    <a:pt x="2018166" y="142805"/>
                  </a:lnTo>
                  <a:lnTo>
                    <a:pt x="0" y="142805"/>
                  </a:lnTo>
                  <a:close/>
                </a:path>
              </a:pathLst>
            </a:custGeom>
            <a:solidFill>
              <a:srgbClr val="FBA0A7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018165" cy="190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16156" y="2561386"/>
            <a:ext cx="7296492" cy="28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2103" spc="17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DIGI</a:t>
            </a:r>
            <a:r>
              <a:rPr lang="en-US" sz="2103" spc="17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TALIZAÇÃO DA CADERNETA DA GESTANTE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6156" y="3476331"/>
            <a:ext cx="7296492" cy="306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26"/>
              </a:lnSpc>
            </a:pPr>
            <a:r>
              <a:rPr lang="en-US" sz="5580" b="true">
                <a:solidFill>
                  <a:srgbClr val="1E3A8A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Uma A</a:t>
            </a:r>
            <a:r>
              <a:rPr lang="en-US" b="true" sz="5580">
                <a:solidFill>
                  <a:srgbClr val="1E3A8A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rquitetura de IA Responsável para Apoio à Decisão Clínica no Pré-Natal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156" y="7787640"/>
            <a:ext cx="7296492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42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Aluno: Lucas Zegrine Duarte</a:t>
            </a:r>
          </a:p>
          <a:p>
            <a:pPr algn="l">
              <a:lnSpc>
                <a:spcPts val="2940"/>
              </a:lnSpc>
            </a:pPr>
            <a:r>
              <a:rPr lang="en-US" sz="2100" spc="42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Orientador: Humberto Torres Marques Neto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spc="42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PUC MG - ICEI - CC - Trabalho de Conclusão de Curso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79081" y="9286804"/>
            <a:ext cx="7389603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33726" y="8970844"/>
            <a:ext cx="574912" cy="57491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14998" y="0"/>
            <a:ext cx="6873002" cy="10287000"/>
          </a:xfrm>
          <a:custGeom>
            <a:avLst/>
            <a:gdLst/>
            <a:ahLst/>
            <a:cxnLst/>
            <a:rect r="r" b="b" t="t" l="l"/>
            <a:pathLst>
              <a:path h="10287000" w="6873002">
                <a:moveTo>
                  <a:pt x="0" y="0"/>
                </a:moveTo>
                <a:lnTo>
                  <a:pt x="6873002" y="0"/>
                </a:lnTo>
                <a:lnTo>
                  <a:pt x="6873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9081" y="1297954"/>
            <a:ext cx="783636" cy="59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b="true" sz="4290">
                <a:solidFill>
                  <a:srgbClr val="1E3A8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9081" y="2499401"/>
            <a:ext cx="783636" cy="59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b="true" sz="4290">
                <a:solidFill>
                  <a:srgbClr val="1E3A8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9081" y="3984020"/>
            <a:ext cx="783636" cy="59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b="true" sz="4290">
                <a:solidFill>
                  <a:srgbClr val="1E3A8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4007" y="5468639"/>
            <a:ext cx="783636" cy="59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b="true" sz="4290">
                <a:solidFill>
                  <a:srgbClr val="1E3A8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94152" y="9961772"/>
            <a:ext cx="3620846" cy="32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1663" spc="91">
                <a:solidFill>
                  <a:srgbClr val="6C6C6C">
                    <a:alpha val="67843"/>
                  </a:srgbClr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Foto: Juan Encalada / Unsplash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4007" y="6953258"/>
            <a:ext cx="783636" cy="59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b="true" sz="4290">
                <a:solidFill>
                  <a:srgbClr val="1E3A8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383" y="8437877"/>
            <a:ext cx="783636" cy="59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b="true" sz="4290">
                <a:solidFill>
                  <a:srgbClr val="1E3A8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81253" y="1342402"/>
            <a:ext cx="5588828" cy="41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spc="195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CONTEXTO E PROBLEMA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81253" y="2543849"/>
            <a:ext cx="7879992" cy="41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spc="195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PROPOSTA E ARQUITETURA RESPONSÁVEL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81253" y="4027039"/>
            <a:ext cx="7276379" cy="41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spc="195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DEMONSTRAÇÃO DA PLATAFORMA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46179" y="5515143"/>
            <a:ext cx="5955665" cy="41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spc="195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METODOLOGIA DE AVALIAÇÃO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46179" y="6999762"/>
            <a:ext cx="7323820" cy="41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spc="195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RESULTADOS E LIMITAÇÕES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05554" y="8490108"/>
            <a:ext cx="6699021" cy="41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spc="195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CONCLUSÃO E TRABALHOS FUTUROS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0504" y="506113"/>
            <a:ext cx="7393805" cy="65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sz="4700" spc="799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SUMÁRIO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2275" y="1028700"/>
            <a:ext cx="375725" cy="8249953"/>
            <a:chOff x="0" y="0"/>
            <a:chExt cx="98956" cy="21728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956" cy="2172827"/>
            </a:xfrm>
            <a:custGeom>
              <a:avLst/>
              <a:gdLst/>
              <a:ahLst/>
              <a:cxnLst/>
              <a:rect r="r" b="b" t="t" l="l"/>
              <a:pathLst>
                <a:path h="2172827" w="98956">
                  <a:moveTo>
                    <a:pt x="0" y="0"/>
                  </a:moveTo>
                  <a:lnTo>
                    <a:pt x="98956" y="0"/>
                  </a:lnTo>
                  <a:lnTo>
                    <a:pt x="98956" y="2172827"/>
                  </a:lnTo>
                  <a:lnTo>
                    <a:pt x="0" y="2172827"/>
                  </a:lnTo>
                  <a:close/>
                </a:path>
              </a:pathLst>
            </a:custGeom>
            <a:solidFill>
              <a:srgbClr val="FBA0A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8956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375725" cy="8249953"/>
            <a:chOff x="0" y="0"/>
            <a:chExt cx="98956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956" cy="2172827"/>
            </a:xfrm>
            <a:custGeom>
              <a:avLst/>
              <a:gdLst/>
              <a:ahLst/>
              <a:cxnLst/>
              <a:rect r="r" b="b" t="t" l="l"/>
              <a:pathLst>
                <a:path h="2172827" w="98956">
                  <a:moveTo>
                    <a:pt x="0" y="0"/>
                  </a:moveTo>
                  <a:lnTo>
                    <a:pt x="98956" y="0"/>
                  </a:lnTo>
                  <a:lnTo>
                    <a:pt x="98956" y="2172827"/>
                  </a:lnTo>
                  <a:lnTo>
                    <a:pt x="0" y="2172827"/>
                  </a:lnTo>
                  <a:close/>
                </a:path>
              </a:pathLst>
            </a:custGeom>
            <a:solidFill>
              <a:srgbClr val="FBA0A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8956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74640" y="1619898"/>
            <a:ext cx="12283097" cy="3247377"/>
          </a:xfrm>
          <a:custGeom>
            <a:avLst/>
            <a:gdLst/>
            <a:ahLst/>
            <a:cxnLst/>
            <a:rect r="r" b="b" t="t" l="l"/>
            <a:pathLst>
              <a:path h="3247377" w="12283097">
                <a:moveTo>
                  <a:pt x="0" y="0"/>
                </a:moveTo>
                <a:lnTo>
                  <a:pt x="12283097" y="0"/>
                </a:lnTo>
                <a:lnTo>
                  <a:pt x="12283097" y="3247377"/>
                </a:lnTo>
                <a:lnTo>
                  <a:pt x="0" y="3247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191091"/>
            <a:ext cx="8115300" cy="192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1800" spc="99">
                <a:solidFill>
                  <a:srgbClr val="000000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D</a:t>
            </a:r>
            <a:r>
              <a:rPr lang="en-US" sz="1800" spc="99">
                <a:solidFill>
                  <a:srgbClr val="000000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esafios operacionais:</a:t>
            </a:r>
          </a:p>
          <a:p>
            <a:pPr algn="l" marL="388625" indent="-194312" lvl="1">
              <a:lnSpc>
                <a:spcPts val="3132"/>
              </a:lnSpc>
              <a:buFont typeface="Arial"/>
              <a:buChar char="•"/>
            </a:pPr>
            <a:r>
              <a:rPr lang="en-US" sz="1800" spc="99">
                <a:solidFill>
                  <a:srgbClr val="000000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Registros distribuídos entre e-SUS e Caderneta da Gestante</a:t>
            </a:r>
          </a:p>
          <a:p>
            <a:pPr algn="l" marL="388625" indent="-194312" lvl="1">
              <a:lnSpc>
                <a:spcPts val="3132"/>
              </a:lnSpc>
              <a:buFont typeface="Arial"/>
              <a:buChar char="•"/>
            </a:pPr>
            <a:r>
              <a:rPr lang="en-US" sz="1800" spc="99">
                <a:solidFill>
                  <a:srgbClr val="000000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Consulta a documentos e protocolos de diferentes fontes e edições</a:t>
            </a:r>
          </a:p>
          <a:p>
            <a:pPr algn="l" marL="388625" indent="-194312" lvl="1">
              <a:lnSpc>
                <a:spcPts val="3132"/>
              </a:lnSpc>
              <a:buFont typeface="Arial"/>
              <a:buChar char="•"/>
            </a:pPr>
            <a:r>
              <a:rPr lang="en-US" sz="1800" spc="99">
                <a:solidFill>
                  <a:srgbClr val="000000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Atenção dividida entre escuta, registro e orientação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315860"/>
            <a:ext cx="9086975" cy="64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2"/>
              </a:lnSpc>
              <a:spcBef>
                <a:spcPct val="0"/>
              </a:spcBef>
            </a:pPr>
            <a:r>
              <a:rPr lang="en-US" sz="2400" spc="408" strike="noStrike" u="none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DOCUMENTAÇÃO PRÉ-NATAL FRAGMENTADA AUMENTA A CARGA DOCUMENTAL.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5048250"/>
            <a:ext cx="7657797" cy="36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  <a:spcBef>
                <a:spcPct val="0"/>
              </a:spcBef>
            </a:pPr>
            <a:r>
              <a:rPr lang="en-US" sz="1800" spc="99" strike="noStrike" u="none">
                <a:solidFill>
                  <a:srgbClr val="000000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Documentos e protocolos consultados no cuidado pré-natal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480591" y="5868724"/>
            <a:ext cx="1986157" cy="3173280"/>
          </a:xfrm>
          <a:custGeom>
            <a:avLst/>
            <a:gdLst/>
            <a:ahLst/>
            <a:cxnLst/>
            <a:rect r="r" b="b" t="t" l="l"/>
            <a:pathLst>
              <a:path h="3173280" w="1986157">
                <a:moveTo>
                  <a:pt x="0" y="0"/>
                </a:moveTo>
                <a:lnTo>
                  <a:pt x="1986157" y="0"/>
                </a:lnTo>
                <a:lnTo>
                  <a:pt x="1986157" y="3173279"/>
                </a:lnTo>
                <a:lnTo>
                  <a:pt x="0" y="3173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839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305166" y="5682925"/>
            <a:ext cx="1958266" cy="3173280"/>
          </a:xfrm>
          <a:custGeom>
            <a:avLst/>
            <a:gdLst/>
            <a:ahLst/>
            <a:cxnLst/>
            <a:rect r="r" b="b" t="t" l="l"/>
            <a:pathLst>
              <a:path h="3173280" w="1958266">
                <a:moveTo>
                  <a:pt x="0" y="0"/>
                </a:moveTo>
                <a:lnTo>
                  <a:pt x="1958266" y="0"/>
                </a:lnTo>
                <a:lnTo>
                  <a:pt x="1958266" y="3173279"/>
                </a:lnTo>
                <a:lnTo>
                  <a:pt x="0" y="3173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1" t="0" r="-497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209726" y="6038861"/>
            <a:ext cx="2303680" cy="3147333"/>
          </a:xfrm>
          <a:custGeom>
            <a:avLst/>
            <a:gdLst/>
            <a:ahLst/>
            <a:cxnLst/>
            <a:rect r="r" b="b" t="t" l="l"/>
            <a:pathLst>
              <a:path h="3147333" w="2303680">
                <a:moveTo>
                  <a:pt x="0" y="0"/>
                </a:moveTo>
                <a:lnTo>
                  <a:pt x="2303680" y="0"/>
                </a:lnTo>
                <a:lnTo>
                  <a:pt x="2303680" y="3147334"/>
                </a:lnTo>
                <a:lnTo>
                  <a:pt x="0" y="3147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55" t="-549" r="0" b="-275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118674" y="5868724"/>
            <a:ext cx="2221506" cy="3151116"/>
          </a:xfrm>
          <a:custGeom>
            <a:avLst/>
            <a:gdLst/>
            <a:ahLst/>
            <a:cxnLst/>
            <a:rect r="r" b="b" t="t" l="l"/>
            <a:pathLst>
              <a:path h="3151116" w="2221506">
                <a:moveTo>
                  <a:pt x="0" y="0"/>
                </a:moveTo>
                <a:lnTo>
                  <a:pt x="2221506" y="0"/>
                </a:lnTo>
                <a:lnTo>
                  <a:pt x="2221506" y="3151116"/>
                </a:lnTo>
                <a:lnTo>
                  <a:pt x="0" y="31511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012" b="-703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820462" y="5682925"/>
            <a:ext cx="2332147" cy="3173280"/>
          </a:xfrm>
          <a:custGeom>
            <a:avLst/>
            <a:gdLst/>
            <a:ahLst/>
            <a:cxnLst/>
            <a:rect r="r" b="b" t="t" l="l"/>
            <a:pathLst>
              <a:path h="3173280" w="2332147">
                <a:moveTo>
                  <a:pt x="0" y="0"/>
                </a:moveTo>
                <a:lnTo>
                  <a:pt x="2332146" y="0"/>
                </a:lnTo>
                <a:lnTo>
                  <a:pt x="2332146" y="3173279"/>
                </a:lnTo>
                <a:lnTo>
                  <a:pt x="0" y="3173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369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5428112" y="6200931"/>
            <a:ext cx="2243532" cy="3173280"/>
          </a:xfrm>
          <a:custGeom>
            <a:avLst/>
            <a:gdLst/>
            <a:ahLst/>
            <a:cxnLst/>
            <a:rect r="r" b="b" t="t" l="l"/>
            <a:pathLst>
              <a:path h="3173280" w="2243532">
                <a:moveTo>
                  <a:pt x="0" y="0"/>
                </a:moveTo>
                <a:lnTo>
                  <a:pt x="2243532" y="0"/>
                </a:lnTo>
                <a:lnTo>
                  <a:pt x="2243532" y="3173280"/>
                </a:lnTo>
                <a:lnTo>
                  <a:pt x="0" y="3173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5" t="-454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5248322" y="6038861"/>
            <a:ext cx="2276145" cy="3188323"/>
          </a:xfrm>
          <a:custGeom>
            <a:avLst/>
            <a:gdLst/>
            <a:ahLst/>
            <a:cxnLst/>
            <a:rect r="r" b="b" t="t" l="l"/>
            <a:pathLst>
              <a:path h="3188323" w="2276145">
                <a:moveTo>
                  <a:pt x="0" y="0"/>
                </a:moveTo>
                <a:lnTo>
                  <a:pt x="2276144" y="0"/>
                </a:lnTo>
                <a:lnTo>
                  <a:pt x="2276144" y="3188324"/>
                </a:lnTo>
                <a:lnTo>
                  <a:pt x="0" y="31883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130725" y="5873004"/>
            <a:ext cx="2224937" cy="3173807"/>
          </a:xfrm>
          <a:custGeom>
            <a:avLst/>
            <a:gdLst/>
            <a:ahLst/>
            <a:cxnLst/>
            <a:rect r="r" b="b" t="t" l="l"/>
            <a:pathLst>
              <a:path h="3173807" w="2224937">
                <a:moveTo>
                  <a:pt x="0" y="0"/>
                </a:moveTo>
                <a:lnTo>
                  <a:pt x="2224937" y="0"/>
                </a:lnTo>
                <a:lnTo>
                  <a:pt x="2224937" y="3173807"/>
                </a:lnTo>
                <a:lnTo>
                  <a:pt x="0" y="31738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83" t="-294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4867120" y="5682925"/>
            <a:ext cx="2301389" cy="3173280"/>
          </a:xfrm>
          <a:custGeom>
            <a:avLst/>
            <a:gdLst/>
            <a:ahLst/>
            <a:cxnLst/>
            <a:rect r="r" b="b" t="t" l="l"/>
            <a:pathLst>
              <a:path h="3173280" w="2301389">
                <a:moveTo>
                  <a:pt x="0" y="0"/>
                </a:moveTo>
                <a:lnTo>
                  <a:pt x="2301389" y="0"/>
                </a:lnTo>
                <a:lnTo>
                  <a:pt x="2301389" y="3173279"/>
                </a:lnTo>
                <a:lnTo>
                  <a:pt x="0" y="3173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413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483649" y="270128"/>
            <a:ext cx="7393805" cy="65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sz="4700" spc="799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PROBLEMA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118" y="2835110"/>
            <a:ext cx="12564775" cy="5861232"/>
            <a:chOff x="0" y="0"/>
            <a:chExt cx="3309241" cy="1543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9241" cy="1543699"/>
            </a:xfrm>
            <a:custGeom>
              <a:avLst/>
              <a:gdLst/>
              <a:ahLst/>
              <a:cxnLst/>
              <a:rect r="r" b="b" t="t" l="l"/>
              <a:pathLst>
                <a:path h="1543699" w="3309241">
                  <a:moveTo>
                    <a:pt x="0" y="0"/>
                  </a:moveTo>
                  <a:lnTo>
                    <a:pt x="3309241" y="0"/>
                  </a:lnTo>
                  <a:lnTo>
                    <a:pt x="3309241" y="1543699"/>
                  </a:lnTo>
                  <a:lnTo>
                    <a:pt x="0" y="15436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9241" cy="159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2121622" y="9258300"/>
            <a:ext cx="4190056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430687" y="9100320"/>
            <a:ext cx="315960" cy="31596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943340" y="9100320"/>
            <a:ext cx="315960" cy="3159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aphicFrame>
        <p:nvGraphicFramePr>
          <p:cNvPr name="Object 12" id="12"/>
          <p:cNvGraphicFramePr/>
          <p:nvPr/>
        </p:nvGraphicFramePr>
        <p:xfrm>
          <a:off x="1028700" y="3906138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585118" y="1277159"/>
            <a:ext cx="16180514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POTENCIAIS, RISCOS E CONTROLES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9222" y="2915319"/>
            <a:ext cx="1237656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  <a:spcBef>
                <a:spcPct val="0"/>
              </a:spcBef>
            </a:pPr>
            <a:r>
              <a:rPr lang="en-US" sz="2500" spc="137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Riscos considerados e respectivos controles arquiteturais da proposta.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739896"/>
            <a:ext cx="14777531" cy="252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68"/>
              </a:lnSpc>
              <a:spcBef>
                <a:spcPct val="0"/>
              </a:spcBef>
            </a:pPr>
            <a:r>
              <a:rPr lang="en-US" sz="4600" spc="354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 aplicar LLMs como apoio documental no pré-natal, com base nos protocolos públicos de saúde, mitigando riscos de alucinação e exposição de dados sensíveis?</a:t>
            </a:r>
          </a:p>
        </p:txBody>
      </p:sp>
      <p:sp>
        <p:nvSpPr>
          <p:cNvPr name="AutoShape 3" id="3"/>
          <p:cNvSpPr/>
          <p:nvPr/>
        </p:nvSpPr>
        <p:spPr>
          <a:xfrm>
            <a:off x="16408773" y="-565398"/>
            <a:ext cx="0" cy="4190056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5400000">
            <a:off x="16250794" y="3743667"/>
            <a:ext cx="315960" cy="3159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5400000">
            <a:off x="16250794" y="4256320"/>
            <a:ext cx="315960" cy="31596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3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3177921"/>
            <a:ext cx="1237656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  <a:spcBef>
                <a:spcPct val="0"/>
              </a:spcBef>
            </a:pPr>
            <a:r>
              <a:rPr lang="en-US" sz="2500" spc="137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Pergunta Norteadora.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1247" y="2581152"/>
            <a:ext cx="12748447" cy="224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24"/>
              </a:lnSpc>
              <a:spcBef>
                <a:spcPct val="0"/>
              </a:spcBef>
            </a:pPr>
            <a:r>
              <a:rPr lang="en-US" sz="2600" spc="143">
                <a:solidFill>
                  <a:srgbClr val="6C6C6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Especificar, implementar e avaliar uma plataforma on-premise para apoio documental ao pré-natal integrando LLMs fundamentadas via RAG, mascaramento de PII e revisão humana obrigatória para apoiar o registro e tomada de decisão clínica.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1247" y="1652730"/>
            <a:ext cx="8115300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 strike="noStrike" u="none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OBJETIVOS</a:t>
            </a:r>
          </a:p>
        </p:txBody>
      </p:sp>
      <p:sp>
        <p:nvSpPr>
          <p:cNvPr name="AutoShape 4" id="4"/>
          <p:cNvSpPr/>
          <p:nvPr/>
        </p:nvSpPr>
        <p:spPr>
          <a:xfrm>
            <a:off x="16408773" y="-565398"/>
            <a:ext cx="0" cy="4190056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5400000">
            <a:off x="16250794" y="3743667"/>
            <a:ext cx="315960" cy="315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6250794" y="4256320"/>
            <a:ext cx="315960" cy="315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3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5336544"/>
            <a:ext cx="16230600" cy="23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828"/>
              </a:lnSpc>
              <a:buFont typeface="Arial"/>
              <a:buChar char="•"/>
            </a:pPr>
            <a:r>
              <a:rPr lang="en-US" sz="2200" spc="121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Desenvolver um protótipo de consulta assistida, com revisão humana obrigatória.</a:t>
            </a:r>
          </a:p>
          <a:p>
            <a:pPr algn="l" marL="474981" indent="-237491" lvl="1">
              <a:lnSpc>
                <a:spcPts val="3828"/>
              </a:lnSpc>
              <a:buFont typeface="Arial"/>
              <a:buChar char="•"/>
            </a:pPr>
            <a:r>
              <a:rPr lang="en-US" sz="2200" spc="121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Mascarar e sanitizar dados pessoais brasileiros antes de inferência.</a:t>
            </a:r>
          </a:p>
          <a:p>
            <a:pPr algn="l" marL="474981" indent="-237491" lvl="1">
              <a:lnSpc>
                <a:spcPts val="3828"/>
              </a:lnSpc>
              <a:buFont typeface="Arial"/>
              <a:buChar char="•"/>
            </a:pPr>
            <a:r>
              <a:rPr lang="en-US" sz="2200" spc="121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Recuperar conhecimento via RAG sobre documentos públicos oficiais.</a:t>
            </a:r>
          </a:p>
          <a:p>
            <a:pPr algn="l" marL="474981" indent="-237491" lvl="1">
              <a:lnSpc>
                <a:spcPts val="3828"/>
              </a:lnSpc>
              <a:buFont typeface="Arial"/>
              <a:buChar char="•"/>
            </a:pPr>
            <a:r>
              <a:rPr lang="en-US" sz="2200" spc="121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Avaliar recuperação, aderência das respostas, privacidade e latência.</a:t>
            </a:r>
          </a:p>
          <a:p>
            <a:pPr algn="l" marL="474981" indent="-237491" lvl="1">
              <a:lnSpc>
                <a:spcPts val="3828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121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Analisar trade-offs entre privacidade local, custo computacional, latência e viabilidade de implantação.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255245" y="1186680"/>
            <a:ext cx="4190056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564310" y="1028700"/>
            <a:ext cx="315960" cy="31596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76964" y="1028700"/>
            <a:ext cx="315960" cy="31596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-207171" y="-3041787"/>
            <a:ext cx="10164071" cy="6778165"/>
          </a:xfrm>
          <a:custGeom>
            <a:avLst/>
            <a:gdLst/>
            <a:ahLst/>
            <a:cxnLst/>
            <a:rect r="r" b="b" t="t" l="l"/>
            <a:pathLst>
              <a:path h="6778165" w="10164071">
                <a:moveTo>
                  <a:pt x="0" y="6778164"/>
                </a:moveTo>
                <a:lnTo>
                  <a:pt x="10164070" y="6778164"/>
                </a:lnTo>
                <a:lnTo>
                  <a:pt x="10164070" y="0"/>
                </a:lnTo>
                <a:lnTo>
                  <a:pt x="0" y="0"/>
                </a:lnTo>
                <a:lnTo>
                  <a:pt x="0" y="677816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994001" y="3029782"/>
            <a:ext cx="12975625" cy="5525135"/>
            <a:chOff x="0" y="0"/>
            <a:chExt cx="3417449" cy="1455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17449" cy="1455180"/>
            </a:xfrm>
            <a:custGeom>
              <a:avLst/>
              <a:gdLst/>
              <a:ahLst/>
              <a:cxnLst/>
              <a:rect r="r" b="b" t="t" l="l"/>
              <a:pathLst>
                <a:path h="1455180" w="3417449">
                  <a:moveTo>
                    <a:pt x="30429" y="0"/>
                  </a:moveTo>
                  <a:lnTo>
                    <a:pt x="3387020" y="0"/>
                  </a:lnTo>
                  <a:cubicBezTo>
                    <a:pt x="3403825" y="0"/>
                    <a:pt x="3417449" y="13624"/>
                    <a:pt x="3417449" y="30429"/>
                  </a:cubicBezTo>
                  <a:lnTo>
                    <a:pt x="3417449" y="1424751"/>
                  </a:lnTo>
                  <a:cubicBezTo>
                    <a:pt x="3417449" y="1432821"/>
                    <a:pt x="3414243" y="1440561"/>
                    <a:pt x="3408536" y="1446267"/>
                  </a:cubicBezTo>
                  <a:cubicBezTo>
                    <a:pt x="3402830" y="1451974"/>
                    <a:pt x="3395090" y="1455180"/>
                    <a:pt x="3387020" y="1455180"/>
                  </a:cubicBezTo>
                  <a:lnTo>
                    <a:pt x="30429" y="1455180"/>
                  </a:lnTo>
                  <a:cubicBezTo>
                    <a:pt x="13624" y="1455180"/>
                    <a:pt x="0" y="1441556"/>
                    <a:pt x="0" y="1424751"/>
                  </a:cubicBezTo>
                  <a:lnTo>
                    <a:pt x="0" y="30429"/>
                  </a:lnTo>
                  <a:cubicBezTo>
                    <a:pt x="0" y="13624"/>
                    <a:pt x="13624" y="0"/>
                    <a:pt x="304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3417449" cy="1569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287302" y="3193489"/>
            <a:ext cx="11971998" cy="6958724"/>
          </a:xfrm>
          <a:custGeom>
            <a:avLst/>
            <a:gdLst/>
            <a:ahLst/>
            <a:cxnLst/>
            <a:rect r="r" b="b" t="t" l="l"/>
            <a:pathLst>
              <a:path h="6958724" w="11971998">
                <a:moveTo>
                  <a:pt x="0" y="0"/>
                </a:moveTo>
                <a:lnTo>
                  <a:pt x="11971998" y="0"/>
                </a:lnTo>
                <a:lnTo>
                  <a:pt x="11971998" y="6958724"/>
                </a:lnTo>
                <a:lnTo>
                  <a:pt x="0" y="6958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893150" y="1401810"/>
            <a:ext cx="9366150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ARQUITETURA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36128" y="0"/>
            <a:ext cx="13613406" cy="10287000"/>
          </a:xfrm>
          <a:custGeom>
            <a:avLst/>
            <a:gdLst/>
            <a:ahLst/>
            <a:cxnLst/>
            <a:rect r="r" b="b" t="t" l="l"/>
            <a:pathLst>
              <a:path h="10287000" w="13613406">
                <a:moveTo>
                  <a:pt x="0" y="0"/>
                </a:moveTo>
                <a:lnTo>
                  <a:pt x="13613407" y="0"/>
                </a:lnTo>
                <a:lnTo>
                  <a:pt x="1361340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634275" y="8248288"/>
            <a:ext cx="4190056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43340" y="8090308"/>
            <a:ext cx="315960" cy="3159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93150" y="8499728"/>
            <a:ext cx="9366150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ARQUITETURA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46514" y="9241039"/>
            <a:ext cx="4512786" cy="26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903" spc="190">
                <a:solidFill>
                  <a:srgbClr val="000000"/>
                </a:solidFill>
                <a:latin typeface="Montaser Arabic Extra-Light"/>
                <a:ea typeface="Montaser Arabic Extra-Light"/>
                <a:cs typeface="Montaser Arabic Extra-Light"/>
                <a:sym typeface="Montaser Arabic Extra-Light"/>
              </a:rPr>
              <a:t>Diagrama DER da base de dados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255245" y="870720"/>
            <a:ext cx="4190056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564310" y="712740"/>
            <a:ext cx="315960" cy="31596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76964" y="712740"/>
            <a:ext cx="315960" cy="31596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43610" y="5143500"/>
            <a:ext cx="16715690" cy="1025019"/>
          </a:xfrm>
          <a:custGeom>
            <a:avLst/>
            <a:gdLst/>
            <a:ahLst/>
            <a:cxnLst/>
            <a:rect r="r" b="b" t="t" l="l"/>
            <a:pathLst>
              <a:path h="1025019" w="16715690">
                <a:moveTo>
                  <a:pt x="0" y="0"/>
                </a:moveTo>
                <a:lnTo>
                  <a:pt x="16715690" y="0"/>
                </a:lnTo>
                <a:lnTo>
                  <a:pt x="16715690" y="1025019"/>
                </a:lnTo>
                <a:lnTo>
                  <a:pt x="0" y="1025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93150" y="1085850"/>
            <a:ext cx="9366150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MÓDULO ESCRIBA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02068" y="1863472"/>
            <a:ext cx="7057232" cy="52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903" spc="190">
                <a:solidFill>
                  <a:srgbClr val="000000"/>
                </a:solidFill>
                <a:latin typeface="Montaser Arabic Extra-Light"/>
                <a:ea typeface="Montaser Arabic Extra-Light"/>
                <a:cs typeface="Montaser Arabic Extra-Light"/>
                <a:sym typeface="Montaser Arabic Extra-Light"/>
              </a:rPr>
              <a:t>Transcrição speech-to-text local com sanitização de dados e geração de insights durante a consulta.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4763" y="4674108"/>
            <a:ext cx="9086975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4"/>
              </a:lnSpc>
              <a:spcBef>
                <a:spcPct val="0"/>
              </a:spcBef>
            </a:pPr>
            <a:r>
              <a:rPr lang="en-US" sz="2300" spc="264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Fluxo de execução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3610" y="7144831"/>
            <a:ext cx="860039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4"/>
              </a:lnSpc>
              <a:spcBef>
                <a:spcPct val="0"/>
              </a:spcBef>
            </a:pPr>
            <a:r>
              <a:rPr lang="en-US" sz="2300" spc="264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Controle de persistência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24763" y="6806694"/>
            <a:ext cx="16734537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144000" y="7144831"/>
            <a:ext cx="860039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4"/>
              </a:lnSpc>
              <a:spcBef>
                <a:spcPct val="0"/>
              </a:spcBef>
            </a:pPr>
            <a:r>
              <a:rPr lang="en-US" sz="2300" spc="264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Diarização e acesso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3610" y="7522783"/>
            <a:ext cx="8115300" cy="114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5" indent="-194312" lvl="1">
              <a:lnSpc>
                <a:spcPts val="3132"/>
              </a:lnSpc>
              <a:buFont typeface="Arial"/>
              <a:buChar char="•"/>
            </a:pPr>
            <a:r>
              <a:rPr lang="en-US" sz="1800" spc="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Áudio não persistido</a:t>
            </a:r>
          </a:p>
          <a:p>
            <a:pPr algn="l" marL="388625" indent="-194312" lvl="1">
              <a:lnSpc>
                <a:spcPts val="3132"/>
              </a:lnSpc>
              <a:buFont typeface="Arial"/>
              <a:buChar char="•"/>
            </a:pPr>
            <a:r>
              <a:rPr lang="en-US" sz="1800" spc="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Transcrição sanitizada salva após confirmação humana</a:t>
            </a:r>
          </a:p>
          <a:p>
            <a:pPr algn="l" marL="388625" indent="-194312" lvl="1">
              <a:lnSpc>
                <a:spcPts val="3132"/>
              </a:lnSpc>
              <a:buFont typeface="Arial"/>
              <a:buChar char="•"/>
            </a:pPr>
            <a:r>
              <a:rPr lang="en-US" sz="1800" spc="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Saídas da IA permanecem editáveis pelo profissional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7522783"/>
            <a:ext cx="8115300" cy="752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5" indent="-194312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99" strike="noStrike" u="none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Diarização opcional com pyannote</a:t>
            </a:r>
          </a:p>
          <a:p>
            <a:pPr algn="l" marL="388625" indent="-194312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99" strike="noStrike" u="none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Rótulos de diarização editáveis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255245" y="870720"/>
            <a:ext cx="4190056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564310" y="712740"/>
            <a:ext cx="315960" cy="31596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76964" y="712740"/>
            <a:ext cx="315960" cy="31596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1028700" y="2700065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0" id="10"/>
          <p:cNvGraphicFramePr/>
          <p:nvPr/>
        </p:nvGraphicFramePr>
        <p:xfrm>
          <a:off x="10285424" y="2738231"/>
          <a:ext cx="13681299" cy="4493211"/>
        </p:xfrm>
        <a:graphic>
          <a:graphicData uri="http://schemas.openxmlformats.org/presentationml/2006/ole">
            <p:oleObj imgW="16421100" imgH="7226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1" id="11"/>
          <p:cNvGraphicFramePr/>
          <p:nvPr/>
        </p:nvGraphicFramePr>
        <p:xfrm>
          <a:off x="10285424" y="6116601"/>
          <a:ext cx="10399445" cy="4626939"/>
        </p:xfrm>
        <a:graphic>
          <a:graphicData uri="http://schemas.openxmlformats.org/presentationml/2006/ole">
            <p:oleObj imgW="12471400" imgH="67056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6674305" y="1085850"/>
            <a:ext cx="10584995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ESCOLHA DO MODELO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924139"/>
            <a:ext cx="7736353" cy="173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b="true" sz="1803" spc="18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Ambiente-alvo</a:t>
            </a:r>
            <a:r>
              <a:rPr lang="en-US" sz="1803" spc="180">
                <a:solidFill>
                  <a:srgbClr val="000000"/>
                </a:solidFill>
                <a:latin typeface="Montaser Arabic Extra-Light"/>
                <a:ea typeface="Montaser Arabic Extra-Light"/>
                <a:cs typeface="Montaser Arabic Extra-Light"/>
                <a:sym typeface="Montaser Arabic Extra-Light"/>
              </a:rPr>
              <a:t>: RTX 5060 Ti (16 GB VRAM)</a:t>
            </a:r>
          </a:p>
          <a:p>
            <a:pPr algn="l">
              <a:lnSpc>
                <a:spcPts val="1948"/>
              </a:lnSpc>
            </a:pPr>
            <a:r>
              <a:rPr lang="en-US" sz="1803" spc="180">
                <a:solidFill>
                  <a:srgbClr val="000000"/>
                </a:solidFill>
                <a:latin typeface="Montaser Arabic Extra-Light"/>
                <a:ea typeface="Montaser Arabic Extra-Light"/>
                <a:cs typeface="Montaser Arabic Extra-Light"/>
                <a:sym typeface="Montaser Arabic Extra-Light"/>
              </a:rPr>
              <a:t>Quantização Q4</a:t>
            </a:r>
          </a:p>
          <a:p>
            <a:pPr algn="l">
              <a:lnSpc>
                <a:spcPts val="1948"/>
              </a:lnSpc>
            </a:pPr>
          </a:p>
          <a:p>
            <a:pPr algn="l">
              <a:lnSpc>
                <a:spcPts val="1948"/>
              </a:lnSpc>
            </a:pPr>
            <a:r>
              <a:rPr lang="en-US" b="true" sz="1803" spc="18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Critério</a:t>
            </a:r>
            <a:r>
              <a:rPr lang="en-US" sz="1803" spc="180">
                <a:solidFill>
                  <a:srgbClr val="000000"/>
                </a:solidFill>
                <a:latin typeface="Montaser Arabic Extra-Light"/>
                <a:ea typeface="Montaser Arabic Extra-Light"/>
                <a:cs typeface="Montaser Arabic Extra-Light"/>
                <a:sym typeface="Montaser Arabic Extra-Light"/>
              </a:rPr>
              <a:t>: evitar offloading e preservar latência operacional</a:t>
            </a:r>
          </a:p>
          <a:p>
            <a:pPr algn="l">
              <a:lnSpc>
                <a:spcPts val="2056"/>
              </a:lnSpc>
            </a:pPr>
          </a:p>
          <a:p>
            <a:pPr algn="l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903" spc="190">
                <a:solidFill>
                  <a:srgbClr val="000000"/>
                </a:solidFill>
                <a:latin typeface="Montaser Arabic Extra-Light"/>
                <a:ea typeface="Montaser Arabic Extra-Light"/>
                <a:cs typeface="Montaser Arabic Extra-Light"/>
                <a:sym typeface="Montaser Arabic Extra-Light"/>
              </a:rPr>
              <a:t>Modelos acima de ≈13GB foram descartados para evitar uso de RAM/CPU e aumento de latência na resposta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224980"/>
            <a:ext cx="7736353" cy="26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6"/>
              </a:lnSpc>
              <a:spcBef>
                <a:spcPct val="0"/>
              </a:spcBef>
            </a:pPr>
            <a:r>
              <a:rPr lang="en-US" b="true" sz="1903" spc="19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Triagem por viabilidade local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4511" y="2224980"/>
            <a:ext cx="6932964" cy="26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6"/>
              </a:lnSpc>
              <a:spcBef>
                <a:spcPct val="0"/>
              </a:spcBef>
            </a:pPr>
            <a:r>
              <a:rPr lang="en-US" b="true" sz="1903" spc="19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Conjunto de hyperparâmetros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45150" y="9277350"/>
            <a:ext cx="3914150" cy="26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903" spc="190">
                <a:solidFill>
                  <a:srgbClr val="000000"/>
                </a:solidFill>
                <a:latin typeface="Montaser Arabic Extra-Light"/>
                <a:ea typeface="Montaser Arabic Extra-Light"/>
                <a:cs typeface="Montaser Arabic Extra-Light"/>
                <a:sym typeface="Montaser Arabic Extra-Light"/>
              </a:rPr>
              <a:t>Configuração conservadora.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8007" y="2734315"/>
            <a:ext cx="6264099" cy="6481834"/>
          </a:xfrm>
          <a:custGeom>
            <a:avLst/>
            <a:gdLst/>
            <a:ahLst/>
            <a:cxnLst/>
            <a:rect r="r" b="b" t="t" l="l"/>
            <a:pathLst>
              <a:path h="6481834" w="6264099">
                <a:moveTo>
                  <a:pt x="0" y="0"/>
                </a:moveTo>
                <a:lnTo>
                  <a:pt x="6264099" y="0"/>
                </a:lnTo>
                <a:lnTo>
                  <a:pt x="6264099" y="6481834"/>
                </a:lnTo>
                <a:lnTo>
                  <a:pt x="0" y="648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" r="-351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12958" y="6855248"/>
            <a:ext cx="810161" cy="810161"/>
            <a:chOff x="0" y="0"/>
            <a:chExt cx="323804" cy="3238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3804" cy="323804"/>
            </a:xfrm>
            <a:custGeom>
              <a:avLst/>
              <a:gdLst/>
              <a:ahLst/>
              <a:cxnLst/>
              <a:rect r="r" b="b" t="t" l="l"/>
              <a:pathLst>
                <a:path h="323804" w="323804">
                  <a:moveTo>
                    <a:pt x="0" y="0"/>
                  </a:moveTo>
                  <a:lnTo>
                    <a:pt x="323804" y="0"/>
                  </a:lnTo>
                  <a:lnTo>
                    <a:pt x="323804" y="323804"/>
                  </a:lnTo>
                  <a:lnTo>
                    <a:pt x="0" y="32380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323804" cy="438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12958" y="5574598"/>
            <a:ext cx="810161" cy="810161"/>
            <a:chOff x="0" y="0"/>
            <a:chExt cx="323804" cy="3238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3804" cy="323804"/>
            </a:xfrm>
            <a:custGeom>
              <a:avLst/>
              <a:gdLst/>
              <a:ahLst/>
              <a:cxnLst/>
              <a:rect r="r" b="b" t="t" l="l"/>
              <a:pathLst>
                <a:path h="323804" w="323804">
                  <a:moveTo>
                    <a:pt x="0" y="0"/>
                  </a:moveTo>
                  <a:lnTo>
                    <a:pt x="323804" y="0"/>
                  </a:lnTo>
                  <a:lnTo>
                    <a:pt x="323804" y="323804"/>
                  </a:lnTo>
                  <a:lnTo>
                    <a:pt x="0" y="32380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323804" cy="438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772721" y="9216149"/>
            <a:ext cx="41900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7057250"/>
            <a:ext cx="9893525" cy="2064736"/>
          </a:xfrm>
          <a:custGeom>
            <a:avLst/>
            <a:gdLst/>
            <a:ahLst/>
            <a:cxnLst/>
            <a:rect r="r" b="b" t="t" l="l"/>
            <a:pathLst>
              <a:path h="2064736" w="9893525">
                <a:moveTo>
                  <a:pt x="0" y="0"/>
                </a:moveTo>
                <a:lnTo>
                  <a:pt x="9893525" y="0"/>
                </a:lnTo>
                <a:lnTo>
                  <a:pt x="9893525" y="2064736"/>
                </a:lnTo>
                <a:lnTo>
                  <a:pt x="0" y="2064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081786" y="9058169"/>
            <a:ext cx="315960" cy="3159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94439" y="9058169"/>
            <a:ext cx="315960" cy="3159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12958" y="8132134"/>
            <a:ext cx="810161" cy="810161"/>
            <a:chOff x="0" y="0"/>
            <a:chExt cx="323804" cy="3238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3804" cy="323804"/>
            </a:xfrm>
            <a:custGeom>
              <a:avLst/>
              <a:gdLst/>
              <a:ahLst/>
              <a:cxnLst/>
              <a:rect r="r" b="b" t="t" l="l"/>
              <a:pathLst>
                <a:path h="323804" w="323804">
                  <a:moveTo>
                    <a:pt x="0" y="0"/>
                  </a:moveTo>
                  <a:lnTo>
                    <a:pt x="323804" y="0"/>
                  </a:lnTo>
                  <a:lnTo>
                    <a:pt x="323804" y="323804"/>
                  </a:lnTo>
                  <a:lnTo>
                    <a:pt x="0" y="32380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323804" cy="438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12958" y="4297712"/>
            <a:ext cx="810161" cy="810161"/>
            <a:chOff x="0" y="0"/>
            <a:chExt cx="323804" cy="3238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3804" cy="323804"/>
            </a:xfrm>
            <a:custGeom>
              <a:avLst/>
              <a:gdLst/>
              <a:ahLst/>
              <a:cxnLst/>
              <a:rect r="r" b="b" t="t" l="l"/>
              <a:pathLst>
                <a:path h="323804" w="323804">
                  <a:moveTo>
                    <a:pt x="0" y="0"/>
                  </a:moveTo>
                  <a:lnTo>
                    <a:pt x="323804" y="0"/>
                  </a:lnTo>
                  <a:lnTo>
                    <a:pt x="323804" y="323804"/>
                  </a:lnTo>
                  <a:lnTo>
                    <a:pt x="0" y="32380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323804" cy="438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2985479"/>
            <a:ext cx="7476541" cy="3198099"/>
          </a:xfrm>
          <a:custGeom>
            <a:avLst/>
            <a:gdLst/>
            <a:ahLst/>
            <a:cxnLst/>
            <a:rect r="r" b="b" t="t" l="l"/>
            <a:pathLst>
              <a:path h="3198099" w="7476541">
                <a:moveTo>
                  <a:pt x="0" y="0"/>
                </a:moveTo>
                <a:lnTo>
                  <a:pt x="7476541" y="0"/>
                </a:lnTo>
                <a:lnTo>
                  <a:pt x="7476541" y="3198099"/>
                </a:lnTo>
                <a:lnTo>
                  <a:pt x="0" y="3198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1085850"/>
            <a:ext cx="11729168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 strike="noStrike" u="none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METODOLOGIA DE TESTES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99043" y="7029662"/>
            <a:ext cx="637992" cy="49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3"/>
              </a:lnSpc>
              <a:spcBef>
                <a:spcPct val="0"/>
              </a:spcBef>
            </a:pPr>
            <a:r>
              <a:rPr lang="en-US" sz="3558" spc="604">
                <a:solidFill>
                  <a:srgbClr val="BFBFB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99043" y="5749012"/>
            <a:ext cx="637992" cy="49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3"/>
              </a:lnSpc>
              <a:spcBef>
                <a:spcPct val="0"/>
              </a:spcBef>
            </a:pPr>
            <a:r>
              <a:rPr lang="en-US" sz="3558" spc="604">
                <a:solidFill>
                  <a:srgbClr val="BFBFB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711072"/>
            <a:ext cx="11459678" cy="52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24"/>
              </a:lnSpc>
              <a:spcBef>
                <a:spcPct val="0"/>
              </a:spcBef>
            </a:pPr>
            <a:r>
              <a:rPr lang="en-US" sz="2600" spc="143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B</a:t>
            </a:r>
            <a:r>
              <a:rPr lang="en-US" sz="2600" spc="143" strike="noStrike" u="none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enchmark automatizado com critérios de aceitação por caso.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99043" y="8306548"/>
            <a:ext cx="637992" cy="49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3"/>
              </a:lnSpc>
              <a:spcBef>
                <a:spcPct val="0"/>
              </a:spcBef>
            </a:pPr>
            <a:r>
              <a:rPr lang="en-US" sz="3558" spc="604">
                <a:solidFill>
                  <a:srgbClr val="BFBFB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4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460278" y="4226711"/>
            <a:ext cx="3927654" cy="893318"/>
            <a:chOff x="0" y="0"/>
            <a:chExt cx="5236872" cy="1191090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38100"/>
              <a:ext cx="2165662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Montaser Arabic Medium"/>
                  <a:ea typeface="Montaser Arabic Medium"/>
                  <a:cs typeface="Montaser Arabic Medium"/>
                  <a:sym typeface="Montaser Arabic Medium"/>
                </a:rPr>
                <a:t>Test set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467995"/>
              <a:ext cx="5236872" cy="723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</a:pPr>
              <a:r>
                <a:rPr lang="en-US" sz="1700" spc="93">
                  <a:solidFill>
                    <a:srgbClr val="000000"/>
                  </a:solidFill>
                  <a:latin typeface="Montaser Arabic Light"/>
                  <a:ea typeface="Montaser Arabic Light"/>
                  <a:cs typeface="Montaser Arabic Light"/>
                  <a:sym typeface="Montaser Arabic Light"/>
                </a:rPr>
                <a:t>Conjunto de perguntas e cenários.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299043" y="4472126"/>
            <a:ext cx="637992" cy="49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3"/>
              </a:lnSpc>
              <a:spcBef>
                <a:spcPct val="0"/>
              </a:spcBef>
            </a:pPr>
            <a:r>
              <a:rPr lang="en-US" sz="3558" spc="604">
                <a:solidFill>
                  <a:srgbClr val="BFBFB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460278" y="5669424"/>
            <a:ext cx="3856654" cy="893318"/>
            <a:chOff x="0" y="0"/>
            <a:chExt cx="5142205" cy="1191090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38100"/>
              <a:ext cx="2165662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000000"/>
                  </a:solidFill>
                  <a:latin typeface="Montaser Arabic Medium"/>
                  <a:ea typeface="Montaser Arabic Medium"/>
                  <a:cs typeface="Montaser Arabic Medium"/>
                  <a:sym typeface="Montaser Arabic Medium"/>
                </a:rPr>
                <a:t>Test case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467995"/>
              <a:ext cx="5142205" cy="723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  <a:spcBef>
                  <a:spcPct val="0"/>
                </a:spcBef>
              </a:pPr>
              <a:r>
                <a:rPr lang="en-US" sz="1700" spc="93" strike="noStrike" u="none">
                  <a:solidFill>
                    <a:srgbClr val="000000"/>
                  </a:solidFill>
                  <a:latin typeface="Montaser Arabic Light"/>
                  <a:ea typeface="Montaser Arabic Light"/>
                  <a:cs typeface="Montaser Arabic Light"/>
                  <a:sym typeface="Montaser Arabic Light"/>
                </a:rPr>
                <a:t>Pergunta + resposta esperada + limiar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460278" y="6835912"/>
            <a:ext cx="3927654" cy="893318"/>
            <a:chOff x="0" y="0"/>
            <a:chExt cx="5236872" cy="1191090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38100"/>
              <a:ext cx="2165662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000000"/>
                  </a:solidFill>
                  <a:latin typeface="Montaser Arabic Medium"/>
                  <a:ea typeface="Montaser Arabic Medium"/>
                  <a:cs typeface="Montaser Arabic Medium"/>
                  <a:sym typeface="Montaser Arabic Medium"/>
                </a:rPr>
                <a:t>Avaliação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467995"/>
              <a:ext cx="5236872" cy="723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  <a:spcBef>
                  <a:spcPct val="0"/>
                </a:spcBef>
              </a:pPr>
              <a:r>
                <a:rPr lang="en-US" sz="1700" spc="93" strike="noStrike" u="none">
                  <a:solidFill>
                    <a:srgbClr val="000000"/>
                  </a:solidFill>
                  <a:latin typeface="Montaser Arabic Light"/>
                  <a:ea typeface="Montaser Arabic Light"/>
                  <a:cs typeface="Montaser Arabic Light"/>
                  <a:sym typeface="Montaser Arabic Light"/>
                </a:rPr>
                <a:t>Envia conjunto de testes e atribui fPass/Fail.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460278" y="8228668"/>
            <a:ext cx="4105156" cy="893318"/>
            <a:chOff x="0" y="0"/>
            <a:chExt cx="5473541" cy="1191090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-38100"/>
              <a:ext cx="2263534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000000"/>
                  </a:solidFill>
                  <a:latin typeface="Montaser Arabic Medium"/>
                  <a:ea typeface="Montaser Arabic Medium"/>
                  <a:cs typeface="Montaser Arabic Medium"/>
                  <a:sym typeface="Montaser Arabic Medium"/>
                </a:rPr>
                <a:t>Evidência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467995"/>
              <a:ext cx="5473541" cy="723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  <a:spcBef>
                  <a:spcPct val="0"/>
                </a:spcBef>
              </a:pPr>
              <a:r>
                <a:rPr lang="en-US" sz="1700" spc="93" strike="noStrike" u="none">
                  <a:solidFill>
                    <a:srgbClr val="000000"/>
                  </a:solidFill>
                  <a:latin typeface="Montaser Arabic Light"/>
                  <a:ea typeface="Montaser Arabic Light"/>
                  <a:cs typeface="Montaser Arabic Light"/>
                  <a:sym typeface="Montaser Arabic Light"/>
                </a:rPr>
                <a:t>Consulta resposta, critério e recursos usados.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28700" y="2514573"/>
            <a:ext cx="409743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5D5D5D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Instrumento e Ambiente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6454024"/>
            <a:ext cx="409743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5D5D5D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Processo de Conferência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90369" y="2863188"/>
            <a:ext cx="5426562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Microsoft Copilot Studio</a:t>
            </a:r>
          </a:p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Agent Evaluation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054" y="-431524"/>
            <a:ext cx="9422041" cy="11311654"/>
            <a:chOff x="0" y="0"/>
            <a:chExt cx="2481525" cy="2979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1525" cy="2979201"/>
            </a:xfrm>
            <a:custGeom>
              <a:avLst/>
              <a:gdLst/>
              <a:ahLst/>
              <a:cxnLst/>
              <a:rect r="r" b="b" t="t" l="l"/>
              <a:pathLst>
                <a:path h="2979201" w="2481525">
                  <a:moveTo>
                    <a:pt x="0" y="0"/>
                  </a:moveTo>
                  <a:lnTo>
                    <a:pt x="2481525" y="0"/>
                  </a:lnTo>
                  <a:lnTo>
                    <a:pt x="2481525" y="2979201"/>
                  </a:lnTo>
                  <a:lnTo>
                    <a:pt x="0" y="29792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481525" cy="3093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45714" y="2433068"/>
            <a:ext cx="6265767" cy="1095533"/>
            <a:chOff x="0" y="0"/>
            <a:chExt cx="8354357" cy="1460711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0">
              <a:off x="-520313" y="-449184"/>
              <a:ext cx="6243751" cy="1717031"/>
            </a:xfrm>
            <a:prstGeom prst="rect">
              <a:avLst/>
            </a:prstGeom>
          </p:spPr>
        </p:pic>
        <p:sp>
          <p:nvSpPr>
            <p:cNvPr name="TextBox 7" id="7"/>
            <p:cNvSpPr txBox="true"/>
            <p:nvPr/>
          </p:nvSpPr>
          <p:spPr>
            <a:xfrm rot="0">
              <a:off x="156464" y="970873"/>
              <a:ext cx="8197892" cy="489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6"/>
                </a:lnSpc>
                <a:spcBef>
                  <a:spcPct val="0"/>
                </a:spcBef>
              </a:pPr>
              <a:r>
                <a:rPr lang="en-US" sz="1900" spc="104">
                  <a:solidFill>
                    <a:srgbClr val="6C6C6C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Hit@6 - fonte esperada entre os 6 trechos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697217" y="-66675"/>
              <a:ext cx="2374601" cy="88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61"/>
                </a:lnSpc>
                <a:spcBef>
                  <a:spcPct val="0"/>
                </a:spcBef>
              </a:pPr>
              <a:r>
                <a:rPr lang="en-US" b="true" sz="4038">
                  <a:solidFill>
                    <a:srgbClr val="5D5D5D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78%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05437" y="5658011"/>
            <a:ext cx="6094140" cy="1052488"/>
            <a:chOff x="0" y="0"/>
            <a:chExt cx="8125521" cy="1403318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-466610" y="-449184"/>
              <a:ext cx="6243751" cy="1717031"/>
            </a:xfrm>
            <a:prstGeom prst="rect">
              <a:avLst/>
            </a:prstGeom>
          </p:spPr>
        </p:pic>
        <p:sp>
          <p:nvSpPr>
            <p:cNvPr name="TextBox 11" id="11"/>
            <p:cNvSpPr txBox="true"/>
            <p:nvPr/>
          </p:nvSpPr>
          <p:spPr>
            <a:xfrm rot="0">
              <a:off x="0" y="913481"/>
              <a:ext cx="8125521" cy="489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6"/>
                </a:lnSpc>
                <a:spcBef>
                  <a:spcPct val="0"/>
                </a:spcBef>
              </a:pPr>
              <a:r>
                <a:rPr lang="en-US" sz="1900" spc="104">
                  <a:solidFill>
                    <a:srgbClr val="6C6C6C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TFR - 1/10 falhas em perguntas distratoras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750919" y="-66675"/>
              <a:ext cx="2374601" cy="88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61"/>
                </a:lnSpc>
                <a:spcBef>
                  <a:spcPct val="0"/>
                </a:spcBef>
              </a:pPr>
              <a:r>
                <a:rPr lang="en-US" b="true" sz="4038">
                  <a:solidFill>
                    <a:srgbClr val="5D5D5D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10%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45714" y="7249233"/>
            <a:ext cx="6314199" cy="1528032"/>
            <a:chOff x="0" y="0"/>
            <a:chExt cx="8418932" cy="2037376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>
              <a:off x="-520313" y="-449184"/>
              <a:ext cx="6243751" cy="1717031"/>
            </a:xfrm>
            <a:prstGeom prst="rect">
              <a:avLst/>
            </a:prstGeom>
          </p:spPr>
        </p:pic>
        <p:sp>
          <p:nvSpPr>
            <p:cNvPr name="TextBox 15" id="15"/>
            <p:cNvSpPr txBox="true"/>
            <p:nvPr/>
          </p:nvSpPr>
          <p:spPr>
            <a:xfrm rot="0">
              <a:off x="0" y="988738"/>
              <a:ext cx="8418932" cy="1048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6"/>
                </a:lnSpc>
                <a:spcBef>
                  <a:spcPct val="0"/>
                </a:spcBef>
              </a:pPr>
              <a:r>
                <a:rPr lang="en-US" sz="1900" spc="104">
                  <a:solidFill>
                    <a:srgbClr val="1E3A8A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PII - 0/76 vazamento de dados pessoais nos testes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697217" y="-66675"/>
              <a:ext cx="2374601" cy="88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61"/>
                </a:lnSpc>
                <a:spcBef>
                  <a:spcPct val="0"/>
                </a:spcBef>
              </a:pPr>
              <a:r>
                <a:rPr lang="en-US" b="true" sz="4038">
                  <a:solidFill>
                    <a:srgbClr val="1E3A8A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0%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45714" y="4067062"/>
            <a:ext cx="6053863" cy="1052488"/>
            <a:chOff x="0" y="0"/>
            <a:chExt cx="8071818" cy="1403318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0">
              <a:off x="-520313" y="-449184"/>
              <a:ext cx="6243751" cy="1717031"/>
            </a:xfrm>
            <a:prstGeom prst="rect">
              <a:avLst/>
            </a:prstGeom>
          </p:spPr>
        </p:pic>
        <p:sp>
          <p:nvSpPr>
            <p:cNvPr name="TextBox 19" id="19"/>
            <p:cNvSpPr txBox="true"/>
            <p:nvPr/>
          </p:nvSpPr>
          <p:spPr>
            <a:xfrm rot="0">
              <a:off x="0" y="913481"/>
              <a:ext cx="8071818" cy="489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6"/>
                </a:lnSpc>
                <a:spcBef>
                  <a:spcPct val="0"/>
                </a:spcBef>
              </a:pPr>
              <a:r>
                <a:rPr lang="en-US" sz="1900" spc="104">
                  <a:solidFill>
                    <a:srgbClr val="6C6C6C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APR - 55/96 critérios obrigatórios aprovados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697217" y="-66675"/>
              <a:ext cx="2374601" cy="88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61"/>
                </a:lnSpc>
                <a:spcBef>
                  <a:spcPct val="0"/>
                </a:spcBef>
              </a:pPr>
              <a:r>
                <a:rPr lang="en-US" b="true" sz="4038">
                  <a:solidFill>
                    <a:srgbClr val="5D5D5D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57,3%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734722" y="5876585"/>
            <a:ext cx="7434705" cy="1146433"/>
          </a:xfrm>
          <a:custGeom>
            <a:avLst/>
            <a:gdLst/>
            <a:ahLst/>
            <a:cxnLst/>
            <a:rect r="r" b="b" t="t" l="l"/>
            <a:pathLst>
              <a:path h="1146433" w="7434705">
                <a:moveTo>
                  <a:pt x="0" y="0"/>
                </a:moveTo>
                <a:lnTo>
                  <a:pt x="7434705" y="0"/>
                </a:lnTo>
                <a:lnTo>
                  <a:pt x="7434705" y="1146433"/>
                </a:lnTo>
                <a:lnTo>
                  <a:pt x="0" y="11464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09295" y="2646491"/>
            <a:ext cx="7434705" cy="216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400" spc="13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O RAG recupera a fonte esperada com frequência, mas a geração ainda falha em critérios de protocolo.</a:t>
            </a:r>
          </a:p>
          <a:p>
            <a:pPr algn="l" marL="0" indent="0" lvl="0">
              <a:lnSpc>
                <a:spcPts val="3504"/>
              </a:lnSpc>
            </a:pPr>
            <a:r>
              <a:rPr lang="en-US" sz="2400" spc="13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Portanto, as saídas devem permanecer editáveis e validadas pelo profissional.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09295" y="1265491"/>
            <a:ext cx="8115300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 strike="noStrike" u="none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RESULTADOS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05437" y="914400"/>
            <a:ext cx="5339457" cy="473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6"/>
              </a:lnSpc>
              <a:spcBef>
                <a:spcPct val="0"/>
              </a:spcBef>
            </a:pPr>
            <a:r>
              <a:rPr lang="en-US" sz="2400" spc="13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Qwen3.5 9B com RAG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054" y="-431524"/>
            <a:ext cx="9422041" cy="11311654"/>
            <a:chOff x="0" y="0"/>
            <a:chExt cx="2481525" cy="2979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1525" cy="2979201"/>
            </a:xfrm>
            <a:custGeom>
              <a:avLst/>
              <a:gdLst/>
              <a:ahLst/>
              <a:cxnLst/>
              <a:rect r="r" b="b" t="t" l="l"/>
              <a:pathLst>
                <a:path h="2979201" w="2481525">
                  <a:moveTo>
                    <a:pt x="0" y="0"/>
                  </a:moveTo>
                  <a:lnTo>
                    <a:pt x="2481525" y="0"/>
                  </a:lnTo>
                  <a:lnTo>
                    <a:pt x="2481525" y="2979201"/>
                  </a:lnTo>
                  <a:lnTo>
                    <a:pt x="0" y="29792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481525" cy="3093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815203" y="4960488"/>
            <a:ext cx="4682813" cy="128777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815203" y="6928527"/>
            <a:ext cx="4682813" cy="1287774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15203" y="2590122"/>
            <a:ext cx="4682813" cy="1287774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709295" y="6223221"/>
            <a:ext cx="7434705" cy="3667253"/>
          </a:xfrm>
          <a:custGeom>
            <a:avLst/>
            <a:gdLst/>
            <a:ahLst/>
            <a:cxnLst/>
            <a:rect r="r" b="b" t="t" l="l"/>
            <a:pathLst>
              <a:path h="3667253" w="7434705">
                <a:moveTo>
                  <a:pt x="0" y="0"/>
                </a:moveTo>
                <a:lnTo>
                  <a:pt x="7434705" y="0"/>
                </a:lnTo>
                <a:lnTo>
                  <a:pt x="7434705" y="3667254"/>
                </a:lnTo>
                <a:lnTo>
                  <a:pt x="0" y="366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71297" y="4999642"/>
            <a:ext cx="5391295" cy="1039081"/>
          </a:xfrm>
          <a:custGeom>
            <a:avLst/>
            <a:gdLst/>
            <a:ahLst/>
            <a:cxnLst/>
            <a:rect r="r" b="b" t="t" l="l"/>
            <a:pathLst>
              <a:path h="1039081" w="5391295">
                <a:moveTo>
                  <a:pt x="0" y="0"/>
                </a:moveTo>
                <a:lnTo>
                  <a:pt x="5391296" y="0"/>
                </a:lnTo>
                <a:lnTo>
                  <a:pt x="5391296" y="1039080"/>
                </a:lnTo>
                <a:lnTo>
                  <a:pt x="0" y="1039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478349" y="5230700"/>
            <a:ext cx="1780951" cy="68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4038">
                <a:solidFill>
                  <a:srgbClr val="1E3A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4,4%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78349" y="7198739"/>
            <a:ext cx="1780951" cy="68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4038">
                <a:solidFill>
                  <a:srgbClr val="5D5D5D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81,2%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93786" y="3638496"/>
            <a:ext cx="5746082" cy="36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2"/>
              </a:lnSpc>
              <a:spcBef>
                <a:spcPct val="0"/>
              </a:spcBef>
            </a:pPr>
            <a:r>
              <a:rPr lang="en-US" b="true" sz="1800" spc="99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MEDICAL WER: Corpus voz humana clínica.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78349" y="2860335"/>
            <a:ext cx="1780951" cy="68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4038">
                <a:solidFill>
                  <a:srgbClr val="5D5D5D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16,1%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93786" y="3961202"/>
            <a:ext cx="5865514" cy="63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  <a:spcBef>
                <a:spcPct val="0"/>
              </a:spcBef>
            </a:pPr>
            <a:r>
              <a:rPr lang="en-US" sz="1500" spc="8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Julia’s Data. Brazilian Portuguese Medical Audio Sample. Hugging Face, 2026.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93786" y="6025674"/>
            <a:ext cx="6231253" cy="31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4"/>
              </a:lnSpc>
              <a:spcBef>
                <a:spcPct val="0"/>
              </a:spcBef>
            </a:pPr>
            <a:r>
              <a:rPr lang="en-US" b="true" sz="1600" spc="88" strike="noStrike" u="none">
                <a:solidFill>
                  <a:srgbClr val="1E3A8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TURBO WER: Áudio sintético com jargão de pré-natal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93786" y="6338855"/>
            <a:ext cx="6231253" cy="28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6"/>
              </a:lnSpc>
              <a:spcBef>
                <a:spcPct val="0"/>
              </a:spcBef>
            </a:pPr>
            <a:r>
              <a:rPr lang="en-US" sz="1400" spc="77">
                <a:solidFill>
                  <a:srgbClr val="1E3A8A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Conjunto sintético de avaliação </a:t>
            </a:r>
            <a:r>
              <a:rPr lang="en-US" b="true" sz="1400" spc="77">
                <a:solidFill>
                  <a:srgbClr val="1E3A8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TTS</a:t>
            </a:r>
            <a:r>
              <a:rPr lang="en-US" sz="1400" spc="77">
                <a:solidFill>
                  <a:srgbClr val="1E3A8A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 via pt-BR-FranciscaNeural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93786" y="8050862"/>
            <a:ext cx="6231253" cy="31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4"/>
              </a:lnSpc>
              <a:spcBef>
                <a:spcPct val="0"/>
              </a:spcBef>
            </a:pPr>
            <a:r>
              <a:rPr lang="en-US" b="true" sz="1600" spc="88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AA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WER: 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rpu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 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fal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 e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nt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âne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</a:t>
            </a:r>
            <a:r>
              <a:rPr lang="en-US" b="true" sz="1600" spc="88" strike="noStrike" u="none">
                <a:solidFill>
                  <a:srgbClr val="6C6C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PT-BR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93786" y="8354518"/>
            <a:ext cx="5865514" cy="63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500" spc="8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Cândido Júnior, et al. CORAA ASR.</a:t>
            </a:r>
          </a:p>
          <a:p>
            <a:pPr algn="l" marL="0" indent="0" lvl="0">
              <a:lnSpc>
                <a:spcPts val="2610"/>
              </a:lnSpc>
              <a:spcBef>
                <a:spcPct val="0"/>
              </a:spcBef>
            </a:pPr>
            <a:r>
              <a:rPr lang="en-US" sz="1500" spc="8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https://github.com/nilc-nlp/CORAA, 2023.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9295" y="2646491"/>
            <a:ext cx="7434705" cy="216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400" spc="13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WER: Word Error Rate.</a:t>
            </a:r>
          </a:p>
          <a:p>
            <a:pPr algn="l">
              <a:lnSpc>
                <a:spcPts val="3504"/>
              </a:lnSpc>
            </a:pPr>
            <a:r>
              <a:rPr lang="en-US" sz="2400" spc="13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O corpus turbo, sintético, apresentou menor erro no cenário medido.</a:t>
            </a:r>
          </a:p>
          <a:p>
            <a:pPr algn="l" marL="0" indent="0" lvl="0">
              <a:lnSpc>
                <a:spcPts val="3504"/>
              </a:lnSpc>
            </a:pPr>
            <a:r>
              <a:rPr lang="en-US" sz="2400" spc="132">
                <a:solidFill>
                  <a:srgbClr val="6C6C6C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Já CORAA revela forte dependência no domínio de saúde.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9295" y="1265491"/>
            <a:ext cx="8115300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 strike="noStrike" u="none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RESULTADOS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104057" y="1978022"/>
            <a:ext cx="419005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820043"/>
            <a:ext cx="315960" cy="31596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354" y="1820043"/>
            <a:ext cx="315960" cy="31596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085850"/>
            <a:ext cx="8115300" cy="7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32"/>
              </a:lnSpc>
              <a:spcBef>
                <a:spcPct val="0"/>
              </a:spcBef>
            </a:pPr>
            <a:r>
              <a:rPr lang="en-US" sz="5400" spc="918" strike="noStrike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LIMITAÇÕES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117360" y="6395970"/>
            <a:ext cx="4057650" cy="2862330"/>
            <a:chOff x="0" y="0"/>
            <a:chExt cx="5410200" cy="381644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410200" cy="3816440"/>
              <a:chOff x="0" y="0"/>
              <a:chExt cx="1466834" cy="103472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66834" cy="1034728"/>
              </a:xfrm>
              <a:custGeom>
                <a:avLst/>
                <a:gdLst/>
                <a:ahLst/>
                <a:cxnLst/>
                <a:rect r="r" b="b" t="t" l="l"/>
                <a:pathLst>
                  <a:path h="1034728" w="1466834">
                    <a:moveTo>
                      <a:pt x="0" y="0"/>
                    </a:moveTo>
                    <a:lnTo>
                      <a:pt x="1466834" y="0"/>
                    </a:lnTo>
                    <a:lnTo>
                      <a:pt x="1466834" y="1034728"/>
                    </a:lnTo>
                    <a:lnTo>
                      <a:pt x="0" y="1034728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1466834" cy="1091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94334"/>
              <a:ext cx="5386559" cy="481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Validade externa limitada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1093560"/>
              <a:ext cx="5386559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260418" y="1353910"/>
              <a:ext cx="4889364" cy="2462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 avaliação foi realizada em ambiente controlado</a:t>
              </a: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,</a:t>
              </a: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sem p</a:t>
              </a: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articipação de p</a:t>
              </a: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rofissionais</a:t>
              </a: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, gestantes</a:t>
              </a: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ou</a:t>
              </a: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uso de</a:t>
              </a: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dados clínicos reais.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6990" y="2381710"/>
            <a:ext cx="4057650" cy="3361418"/>
            <a:chOff x="0" y="0"/>
            <a:chExt cx="5410200" cy="448189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410200" cy="4481891"/>
              <a:chOff x="0" y="0"/>
              <a:chExt cx="1466834" cy="121514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66834" cy="1215148"/>
              </a:xfrm>
              <a:custGeom>
                <a:avLst/>
                <a:gdLst/>
                <a:ahLst/>
                <a:cxnLst/>
                <a:rect r="r" b="b" t="t" l="l"/>
                <a:pathLst>
                  <a:path h="1215148" w="1466834">
                    <a:moveTo>
                      <a:pt x="0" y="0"/>
                    </a:moveTo>
                    <a:lnTo>
                      <a:pt x="1466834" y="0"/>
                    </a:lnTo>
                    <a:lnTo>
                      <a:pt x="1466834" y="1215148"/>
                    </a:lnTo>
                    <a:lnTo>
                      <a:pt x="0" y="1215148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1466834" cy="1272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94334"/>
              <a:ext cx="5386559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Aderência parcial de respostas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0" y="1071547"/>
              <a:ext cx="5386559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260418" y="1331897"/>
              <a:ext cx="4889364" cy="2957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O modelo local com RAG atingiu 57,3% de aprovação nos critérios automáticos e apresentou taxa de falha de 10,0% em perguntas distratoras.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17360" y="2381710"/>
            <a:ext cx="4053280" cy="3392278"/>
            <a:chOff x="0" y="0"/>
            <a:chExt cx="5404374" cy="452303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404374" cy="4523038"/>
              <a:chOff x="0" y="0"/>
              <a:chExt cx="1465254" cy="122630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65254" cy="1226303"/>
              </a:xfrm>
              <a:custGeom>
                <a:avLst/>
                <a:gdLst/>
                <a:ahLst/>
                <a:cxnLst/>
                <a:rect r="r" b="b" t="t" l="l"/>
                <a:pathLst>
                  <a:path h="1226303" w="1465254">
                    <a:moveTo>
                      <a:pt x="0" y="0"/>
                    </a:moveTo>
                    <a:lnTo>
                      <a:pt x="1465254" y="0"/>
                    </a:lnTo>
                    <a:lnTo>
                      <a:pt x="1465254" y="1226303"/>
                    </a:lnTo>
                    <a:lnTo>
                      <a:pt x="0" y="1226303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1465254" cy="1283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94334"/>
              <a:ext cx="5380758" cy="976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Evidência recuperada nem sempre suficiente</a:t>
              </a:r>
            </a:p>
          </p:txBody>
        </p:sp>
        <p:sp>
          <p:nvSpPr>
            <p:cNvPr name="AutoShape 29" id="29"/>
            <p:cNvSpPr/>
            <p:nvPr/>
          </p:nvSpPr>
          <p:spPr>
            <a:xfrm>
              <a:off x="11808" y="1320636"/>
              <a:ext cx="5380758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248330" y="1409536"/>
              <a:ext cx="4884099" cy="2957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O phrase recall global de 47,1% indica que os trechos recuperados nem sempre continham toda a evidência necessária para satisfazer o critério de resposta.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33070" y="6395970"/>
            <a:ext cx="4053280" cy="2864288"/>
            <a:chOff x="0" y="0"/>
            <a:chExt cx="5404374" cy="381905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404374" cy="3819050"/>
              <a:chOff x="0" y="0"/>
              <a:chExt cx="1465254" cy="103543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465254" cy="1035436"/>
              </a:xfrm>
              <a:custGeom>
                <a:avLst/>
                <a:gdLst/>
                <a:ahLst/>
                <a:cxnLst/>
                <a:rect r="r" b="b" t="t" l="l"/>
                <a:pathLst>
                  <a:path h="1035436" w="1465254">
                    <a:moveTo>
                      <a:pt x="0" y="0"/>
                    </a:moveTo>
                    <a:lnTo>
                      <a:pt x="1465254" y="0"/>
                    </a:lnTo>
                    <a:lnTo>
                      <a:pt x="1465254" y="1035436"/>
                    </a:lnTo>
                    <a:lnTo>
                      <a:pt x="0" y="1035436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1465254" cy="10925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1808" y="74955"/>
              <a:ext cx="5380758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Restrição computacional local</a:t>
              </a:r>
            </a:p>
          </p:txBody>
        </p:sp>
        <p:sp>
          <p:nvSpPr>
            <p:cNvPr name="AutoShape 36" id="36"/>
            <p:cNvSpPr/>
            <p:nvPr/>
          </p:nvSpPr>
          <p:spPr>
            <a:xfrm>
              <a:off x="11808" y="1327175"/>
              <a:ext cx="5380758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7" id="37"/>
            <p:cNvSpPr txBox="true"/>
            <p:nvPr/>
          </p:nvSpPr>
          <p:spPr>
            <a:xfrm rot="0">
              <a:off x="241611" y="1438300"/>
              <a:ext cx="4884099" cy="2082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O fluxo local com RAG apresentou latência média end-to-end de 15s depende diretamente da VRAM disponível limitando a adoção em infraestrutura de baixo custo.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00481" y="2381710"/>
            <a:ext cx="4258819" cy="3398193"/>
            <a:chOff x="0" y="0"/>
            <a:chExt cx="5678425" cy="4530925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5678425" cy="4530925"/>
              <a:chOff x="0" y="0"/>
              <a:chExt cx="1539556" cy="122844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539556" cy="1228442"/>
              </a:xfrm>
              <a:custGeom>
                <a:avLst/>
                <a:gdLst/>
                <a:ahLst/>
                <a:cxnLst/>
                <a:rect r="r" b="b" t="t" l="l"/>
                <a:pathLst>
                  <a:path h="1228442" w="1539556">
                    <a:moveTo>
                      <a:pt x="0" y="0"/>
                    </a:moveTo>
                    <a:lnTo>
                      <a:pt x="1539556" y="0"/>
                    </a:lnTo>
                    <a:lnTo>
                      <a:pt x="1539556" y="1228442"/>
                    </a:lnTo>
                    <a:lnTo>
                      <a:pt x="0" y="1228442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1539556" cy="1285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45933" y="188248"/>
              <a:ext cx="5386559" cy="976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Segurança de infraestrutura não avaliada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26388" y="1604108"/>
              <a:ext cx="5552037" cy="2462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 topologia em contêineres foi adotada como medida de privacidade by design. Não foram realizados testes específicos de segurança de rede.</a:t>
              </a:r>
            </a:p>
          </p:txBody>
        </p:sp>
        <p:sp>
          <p:nvSpPr>
            <p:cNvPr name="AutoShape 44" id="44"/>
            <p:cNvSpPr/>
            <p:nvPr/>
          </p:nvSpPr>
          <p:spPr>
            <a:xfrm flipV="true">
              <a:off x="0" y="1413608"/>
              <a:ext cx="56784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00481" y="6395970"/>
            <a:ext cx="4258819" cy="2862330"/>
            <a:chOff x="0" y="0"/>
            <a:chExt cx="5678425" cy="381644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5678425" cy="3816440"/>
              <a:chOff x="0" y="0"/>
              <a:chExt cx="1539556" cy="1034728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539556" cy="1034728"/>
              </a:xfrm>
              <a:custGeom>
                <a:avLst/>
                <a:gdLst/>
                <a:ahLst/>
                <a:cxnLst/>
                <a:rect r="r" b="b" t="t" l="l"/>
                <a:pathLst>
                  <a:path h="1034728" w="1539556">
                    <a:moveTo>
                      <a:pt x="0" y="0"/>
                    </a:moveTo>
                    <a:lnTo>
                      <a:pt x="1539556" y="0"/>
                    </a:lnTo>
                    <a:lnTo>
                      <a:pt x="1539556" y="1034728"/>
                    </a:lnTo>
                    <a:lnTo>
                      <a:pt x="0" y="1034728"/>
                    </a:lnTo>
                    <a:close/>
                  </a:path>
                </a:pathLst>
              </a:custGeom>
              <a:ln w="9525" cap="sq">
                <a:solidFill>
                  <a:srgbClr val="FDD6D9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57150"/>
                <a:ext cx="1539556" cy="1091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0" y="194334"/>
              <a:ext cx="5653612" cy="481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Imp</a:t>
              </a:r>
              <a:r>
                <a:rPr lang="en-US" b="true" sz="2100" strike="noStrike" u="none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li</a:t>
              </a:r>
              <a:r>
                <a:rPr lang="en-US" b="true" sz="2100" strike="noStrike" u="none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</a:t>
              </a:r>
              <a:r>
                <a:rPr lang="en-US" b="true" sz="2100" strike="noStrike" u="none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</a:t>
              </a:r>
              <a:r>
                <a:rPr lang="en-US" b="true" sz="2100" strike="noStrike" u="none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ção</a:t>
              </a:r>
              <a:r>
                <a:rPr lang="en-US" b="true" sz="2100" strike="noStrike" u="none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</a:t>
              </a:r>
              <a:r>
                <a:rPr lang="en-US" b="true" sz="2100" strike="noStrike" u="none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pa</a:t>
              </a:r>
              <a:r>
                <a:rPr lang="en-US" b="true" sz="2100" strike="noStrike" u="none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ra </a:t>
              </a:r>
              <a:r>
                <a:rPr lang="en-US" b="true" sz="2100" strike="noStrike" u="none">
                  <a:solidFill>
                    <a:srgbClr val="FDD6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uso</a:t>
              </a:r>
            </a:p>
          </p:txBody>
        </p:sp>
        <p:sp>
          <p:nvSpPr>
            <p:cNvPr name="AutoShape 50" id="50"/>
            <p:cNvSpPr/>
            <p:nvPr/>
          </p:nvSpPr>
          <p:spPr>
            <a:xfrm>
              <a:off x="0" y="1093560"/>
              <a:ext cx="5653612" cy="0"/>
            </a:xfrm>
            <a:prstGeom prst="line">
              <a:avLst/>
            </a:prstGeom>
            <a:ln cap="flat" w="12700">
              <a:solidFill>
                <a:srgbClr val="FDD6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1" id="51"/>
            <p:cNvSpPr txBox="true"/>
            <p:nvPr/>
          </p:nvSpPr>
          <p:spPr>
            <a:xfrm rot="0">
              <a:off x="260922" y="1196714"/>
              <a:ext cx="5131767" cy="2462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Devido aos resultados, o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 sistema deve perma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nece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r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 assis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ti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vo, 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c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om val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i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d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ação 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huma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na antes da 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per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s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istência</a:t>
              </a:r>
              <a:r>
                <a:rPr lang="en-US" sz="2100" strike="noStrike" u="none">
                  <a:solidFill>
                    <a:srgbClr val="FDD6D9"/>
                  </a:solidFill>
                  <a:latin typeface="Raleway"/>
                  <a:ea typeface="Raleway"/>
                  <a:cs typeface="Raleway"/>
                  <a:sym typeface="Raleway"/>
                </a:rPr>
                <a:t> de qualquer informação.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104057" y="1978022"/>
            <a:ext cx="419005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820043"/>
            <a:ext cx="315960" cy="31596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1354" y="1820043"/>
            <a:ext cx="315960" cy="31596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085850"/>
            <a:ext cx="8115300" cy="60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52"/>
              </a:lnSpc>
              <a:spcBef>
                <a:spcPct val="0"/>
              </a:spcBef>
            </a:pPr>
            <a:r>
              <a:rPr lang="en-US" sz="4400" spc="74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TRABALHOS FUTUROS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095812" y="3457872"/>
            <a:ext cx="3971139" cy="4379000"/>
            <a:chOff x="0" y="0"/>
            <a:chExt cx="1435561" cy="15830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5561" cy="1583002"/>
            </a:xfrm>
            <a:custGeom>
              <a:avLst/>
              <a:gdLst/>
              <a:ahLst/>
              <a:cxnLst/>
              <a:rect r="r" b="b" t="t" l="l"/>
              <a:pathLst>
                <a:path h="1583002" w="1435561">
                  <a:moveTo>
                    <a:pt x="0" y="0"/>
                  </a:moveTo>
                  <a:lnTo>
                    <a:pt x="1435561" y="0"/>
                  </a:lnTo>
                  <a:lnTo>
                    <a:pt x="1435561" y="1583002"/>
                  </a:lnTo>
                  <a:lnTo>
                    <a:pt x="0" y="1583002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35561" cy="1640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01999" y="3457872"/>
            <a:ext cx="3971139" cy="4379000"/>
            <a:chOff x="0" y="0"/>
            <a:chExt cx="1435561" cy="15830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5561" cy="1583002"/>
            </a:xfrm>
            <a:custGeom>
              <a:avLst/>
              <a:gdLst/>
              <a:ahLst/>
              <a:cxnLst/>
              <a:rect r="r" b="b" t="t" l="l"/>
              <a:pathLst>
                <a:path h="1583002" w="1435561">
                  <a:moveTo>
                    <a:pt x="0" y="0"/>
                  </a:moveTo>
                  <a:lnTo>
                    <a:pt x="1435561" y="0"/>
                  </a:lnTo>
                  <a:lnTo>
                    <a:pt x="1435561" y="1583002"/>
                  </a:lnTo>
                  <a:lnTo>
                    <a:pt x="0" y="1583002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435561" cy="1640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9625" y="3589336"/>
            <a:ext cx="395378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Validação em CPS/APS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6694" y="3593830"/>
            <a:ext cx="395025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STT e diarização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07122" y="4508548"/>
            <a:ext cx="3588841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Comparação de resultados com modelos locais maiores e modelos com Fine-tuning em corpus obstétrico PT-BR</a:t>
            </a:r>
          </a:p>
        </p:txBody>
      </p:sp>
      <p:sp>
        <p:nvSpPr>
          <p:cNvPr name="AutoShape 19" id="19"/>
          <p:cNvSpPr/>
          <p:nvPr/>
        </p:nvSpPr>
        <p:spPr>
          <a:xfrm>
            <a:off x="989625" y="4318048"/>
            <a:ext cx="395378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5116694" y="4322810"/>
            <a:ext cx="395025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200301" y="4318048"/>
            <a:ext cx="397283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219351" y="3603355"/>
            <a:ext cx="395378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Testes com mais modelos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49508" y="4499023"/>
            <a:ext cx="3588841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Testes de transcrição, identificação de participantes e tratamento de falas sobrepostas em cenários clínicos simulados.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9625" y="3457872"/>
            <a:ext cx="3971139" cy="4379000"/>
            <a:chOff x="0" y="0"/>
            <a:chExt cx="5294853" cy="583866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294853" cy="5838667"/>
              <a:chOff x="0" y="0"/>
              <a:chExt cx="1435561" cy="158300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35561" cy="1583002"/>
              </a:xfrm>
              <a:custGeom>
                <a:avLst/>
                <a:gdLst/>
                <a:ahLst/>
                <a:cxnLst/>
                <a:rect r="r" b="b" t="t" l="l"/>
                <a:pathLst>
                  <a:path h="1583002" w="1435561">
                    <a:moveTo>
                      <a:pt x="0" y="0"/>
                    </a:moveTo>
                    <a:lnTo>
                      <a:pt x="1435561" y="0"/>
                    </a:lnTo>
                    <a:lnTo>
                      <a:pt x="1435561" y="1583002"/>
                    </a:lnTo>
                    <a:lnTo>
                      <a:pt x="0" y="1583002"/>
                    </a:lnTo>
                    <a:close/>
                  </a:path>
                </a:pathLst>
              </a:custGeom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1435561" cy="1640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54866" y="1407251"/>
              <a:ext cx="4785121" cy="2462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Validação com profissionais de saúde com testes de usabilidade, carga cognitiva, tempo de consulta e aceitação de sugestões.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27236" y="3457872"/>
            <a:ext cx="3971139" cy="4379000"/>
            <a:chOff x="0" y="0"/>
            <a:chExt cx="1435561" cy="15830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35561" cy="1583002"/>
            </a:xfrm>
            <a:custGeom>
              <a:avLst/>
              <a:gdLst/>
              <a:ahLst/>
              <a:cxnLst/>
              <a:rect r="r" b="b" t="t" l="l"/>
              <a:pathLst>
                <a:path h="1583002" w="1435561">
                  <a:moveTo>
                    <a:pt x="0" y="0"/>
                  </a:moveTo>
                  <a:lnTo>
                    <a:pt x="1435561" y="0"/>
                  </a:lnTo>
                  <a:lnTo>
                    <a:pt x="1435561" y="1583002"/>
                  </a:lnTo>
                  <a:lnTo>
                    <a:pt x="0" y="1583002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435561" cy="1640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532359" y="4499023"/>
            <a:ext cx="3588841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Extensão do agente para atuação no WhatsApp com lembretes de consulta, resumo validado e conteúdo educativo por idade gestacional mediante validação profissional.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3325538" y="4318048"/>
            <a:ext cx="397283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3344588" y="3593830"/>
            <a:ext cx="395378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Mobile Health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72721" y="8448136"/>
            <a:ext cx="419005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081786" y="8290156"/>
            <a:ext cx="315960" cy="31596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94439" y="8290156"/>
            <a:ext cx="315960" cy="31596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288402"/>
            <a:ext cx="15255101" cy="64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2400" spc="132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Arquitetura implementada</a:t>
            </a:r>
          </a:p>
          <a:p>
            <a:pPr algn="l" marL="410214" indent="-205107" lvl="1">
              <a:lnSpc>
                <a:spcPts val="3306"/>
              </a:lnSpc>
              <a:buFont typeface="Arial"/>
              <a:buChar char="•"/>
            </a:pPr>
            <a:r>
              <a:rPr lang="en-US" sz="1900" spc="10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Integração de transcrição local, RAG sobre documentos oficiais, mascaramento de PII e revisão humana.</a:t>
            </a:r>
          </a:p>
          <a:p>
            <a:pPr algn="l" marL="410214" indent="-205107" lvl="1">
              <a:lnSpc>
                <a:spcPts val="3306"/>
              </a:lnSpc>
              <a:buFont typeface="Arial"/>
              <a:buChar char="•"/>
            </a:pPr>
            <a:r>
              <a:rPr lang="en-US" sz="1900" spc="10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Processamento on-premise, reduzindo a exposição de dados sensíveis a serviços externos.</a:t>
            </a:r>
          </a:p>
          <a:p>
            <a:pPr algn="l">
              <a:lnSpc>
                <a:spcPts val="4176"/>
              </a:lnSpc>
            </a:pPr>
          </a:p>
          <a:p>
            <a:pPr algn="l">
              <a:lnSpc>
                <a:spcPts val="4176"/>
              </a:lnSpc>
            </a:pPr>
            <a:r>
              <a:rPr lang="en-US" sz="2400" spc="132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Evidências obtidas</a:t>
            </a:r>
          </a:p>
          <a:p>
            <a:pPr algn="l" marL="410214" indent="-205107" lvl="1">
              <a:lnSpc>
                <a:spcPts val="3306"/>
              </a:lnSpc>
              <a:buFont typeface="Arial"/>
              <a:buChar char="•"/>
            </a:pPr>
            <a:r>
              <a:rPr lang="en-US" sz="1900" spc="10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Hit@6 de 78% na recuperação de fontes esperadas.</a:t>
            </a:r>
          </a:p>
          <a:p>
            <a:pPr algn="l" marL="410214" indent="-205107" lvl="1">
              <a:lnSpc>
                <a:spcPts val="3306"/>
              </a:lnSpc>
              <a:buFont typeface="Arial"/>
              <a:buChar char="•"/>
            </a:pPr>
            <a:r>
              <a:rPr lang="en-US" sz="1900" spc="10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0 vazamentos em 76 testes de PII.</a:t>
            </a:r>
          </a:p>
          <a:p>
            <a:pPr algn="l" marL="410214" indent="-205107" lvl="1">
              <a:lnSpc>
                <a:spcPts val="3306"/>
              </a:lnSpc>
              <a:buFont typeface="Arial"/>
              <a:buChar char="•"/>
            </a:pPr>
            <a:r>
              <a:rPr lang="en-US" sz="1900" spc="10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Transcrição local com WER de 16,1% no corpus médico avaliado.</a:t>
            </a:r>
          </a:p>
          <a:p>
            <a:pPr algn="l">
              <a:lnSpc>
                <a:spcPts val="4176"/>
              </a:lnSpc>
            </a:pPr>
          </a:p>
          <a:p>
            <a:pPr algn="l">
              <a:lnSpc>
                <a:spcPts val="4176"/>
              </a:lnSpc>
            </a:pPr>
            <a:r>
              <a:rPr lang="en-US" sz="2400" spc="132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Limite e implicação</a:t>
            </a:r>
          </a:p>
          <a:p>
            <a:pPr algn="l" marL="410214" indent="-205107" lvl="1">
              <a:lnSpc>
                <a:spcPts val="3306"/>
              </a:lnSpc>
              <a:buFont typeface="Arial"/>
              <a:buChar char="•"/>
            </a:pPr>
            <a:r>
              <a:rPr lang="en-US" sz="1900" spc="10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A geração ainda apresentou APR de 57,3% e falhou em 10% das perguntas distratoras.</a:t>
            </a:r>
          </a:p>
          <a:p>
            <a:pPr algn="l" marL="410214" indent="-205107" lvl="1">
              <a:lnSpc>
                <a:spcPts val="3306"/>
              </a:lnSpc>
              <a:buFont typeface="Arial"/>
              <a:buChar char="•"/>
            </a:pPr>
            <a:r>
              <a:rPr lang="en-US" sz="1900" spc="10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Portanto, o sistema deve permanecer como apoio documental, com saídas editáveis e validação humana antes da persistência no prontuário.</a:t>
            </a:r>
          </a:p>
          <a:p>
            <a:pPr algn="l" marL="0" indent="0" lvl="0">
              <a:lnSpc>
                <a:spcPts val="4176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2104057" y="1978022"/>
            <a:ext cx="419005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28700" y="1820043"/>
            <a:ext cx="315960" cy="3159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1354" y="1820043"/>
            <a:ext cx="315960" cy="3159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085850"/>
            <a:ext cx="8115300" cy="60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52"/>
              </a:lnSpc>
              <a:spcBef>
                <a:spcPct val="0"/>
              </a:spcBef>
            </a:pPr>
            <a:r>
              <a:rPr lang="en-US" sz="4400" spc="74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CONCLUSÃO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29743" y="1799893"/>
            <a:ext cx="7389603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684388" y="1483934"/>
            <a:ext cx="574912" cy="57491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16415" y="2232646"/>
            <a:ext cx="5242885" cy="1557289"/>
            <a:chOff x="0" y="0"/>
            <a:chExt cx="1380842" cy="410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0842" cy="410150"/>
            </a:xfrm>
            <a:custGeom>
              <a:avLst/>
              <a:gdLst/>
              <a:ahLst/>
              <a:cxnLst/>
              <a:rect r="r" b="b" t="t" l="l"/>
              <a:pathLst>
                <a:path h="410150" w="1380842">
                  <a:moveTo>
                    <a:pt x="0" y="0"/>
                  </a:moveTo>
                  <a:lnTo>
                    <a:pt x="1380842" y="0"/>
                  </a:lnTo>
                  <a:lnTo>
                    <a:pt x="1380842" y="410150"/>
                  </a:lnTo>
                  <a:lnTo>
                    <a:pt x="0" y="410150"/>
                  </a:lnTo>
                  <a:close/>
                </a:path>
              </a:pathLst>
            </a:custGeom>
            <a:solidFill>
              <a:srgbClr val="FBA0A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80842" cy="457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4313" y="725416"/>
            <a:ext cx="5892619" cy="8836167"/>
          </a:xfrm>
          <a:custGeom>
            <a:avLst/>
            <a:gdLst/>
            <a:ahLst/>
            <a:cxnLst/>
            <a:rect r="r" b="b" t="t" l="l"/>
            <a:pathLst>
              <a:path h="8836167" w="5892619">
                <a:moveTo>
                  <a:pt x="0" y="0"/>
                </a:moveTo>
                <a:lnTo>
                  <a:pt x="5892619" y="0"/>
                </a:lnTo>
                <a:lnTo>
                  <a:pt x="5892619" y="8836168"/>
                </a:lnTo>
                <a:lnTo>
                  <a:pt x="0" y="883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91886" y="2595684"/>
            <a:ext cx="5067414" cy="91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7"/>
              </a:lnSpc>
            </a:pPr>
            <a:r>
              <a:rPr lang="en-US" sz="6543" b="true">
                <a:solidFill>
                  <a:srgbClr val="1E3A8A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OBRIGADO!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82389" y="8268335"/>
            <a:ext cx="707691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 spc="3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Aluno: Lucas Zegrine Duarte</a:t>
            </a:r>
          </a:p>
          <a:p>
            <a:pPr algn="r">
              <a:lnSpc>
                <a:spcPts val="2660"/>
              </a:lnSpc>
            </a:pPr>
            <a:r>
              <a:rPr lang="en-US" sz="1900" spc="3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Orientador: Humberto Torres Marques Neto</a:t>
            </a:r>
          </a:p>
          <a:p>
            <a:pPr algn="r">
              <a:lnSpc>
                <a:spcPts val="2660"/>
              </a:lnSpc>
            </a:pPr>
            <a:r>
              <a:rPr lang="en-US" sz="1900" spc="38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PUC Minas - ICEI - CC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4313" y="9485384"/>
            <a:ext cx="3768269" cy="32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1663" spc="91">
                <a:solidFill>
                  <a:srgbClr val="6C6C6C">
                    <a:alpha val="67843"/>
                  </a:srgbClr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Foto: Nathan Dumlao / Unsplash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35405" y="3837560"/>
            <a:ext cx="3623895" cy="55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4000" spc="220">
                <a:solidFill>
                  <a:srgbClr val="1E3A8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DAHN50dQq78</dc:identifier>
  <dcterms:modified xsi:type="dcterms:W3CDTF">2011-08-01T06:04:30Z</dcterms:modified>
  <cp:revision>1</cp:revision>
  <dc:title>TCC 2</dc:title>
</cp:coreProperties>
</file>